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5923</c:v>
                </c:pt>
                <c:pt idx="1">
                  <c:v>6742</c:v>
                </c:pt>
                <c:pt idx="2">
                  <c:v>5958</c:v>
                </c:pt>
                <c:pt idx="3">
                  <c:v>6131</c:v>
                </c:pt>
                <c:pt idx="4">
                  <c:v>5842</c:v>
                </c:pt>
                <c:pt idx="5">
                  <c:v>5421</c:v>
                </c:pt>
                <c:pt idx="6">
                  <c:v>5918</c:v>
                </c:pt>
                <c:pt idx="7">
                  <c:v>6265</c:v>
                </c:pt>
                <c:pt idx="8">
                  <c:v>5851</c:v>
                </c:pt>
                <c:pt idx="9">
                  <c:v>5949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CA-4FE5-8551-5699EB8F2A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Digit Class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# Samples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0.99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D9-4DE4-9B58-D50EB14F17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Digit Class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1"/>
          <c:min val="0.9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475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474720"/>
            <a:ext cx="2011680" cy="1668780"/>
          </a:xfrm>
          <a:prstGeom prst="rect">
            <a:avLst/>
          </a:prstGeom>
          <a:solidFill>
            <a:srgbClr val="0A93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3291840"/>
          </a:xfrm>
          <a:prstGeom prst="rect">
            <a:avLst/>
          </a:prstGeom>
          <a:solidFill>
            <a:srgbClr val="0A9396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640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Handwritten Digit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Using LeNet-5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41148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Sri Turlapati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Engineering  ·  University of South Florida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6681: Deep Learning Analytics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114800"/>
            <a:ext cx="1737360" cy="685800"/>
          </a:xfrm>
          <a:prstGeom prst="rect">
            <a:avLst/>
          </a:prstGeom>
          <a:solidFill>
            <a:srgbClr val="0A9396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99.65%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45079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4114800"/>
            <a:ext cx="1737360" cy="685800"/>
          </a:xfrm>
          <a:prstGeom prst="rect">
            <a:avLst/>
          </a:prstGeom>
          <a:solidFill>
            <a:srgbClr val="0A93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77440" y="45079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4114800"/>
            <a:ext cx="1737360" cy="685800"/>
          </a:xfrm>
          <a:prstGeom prst="rect">
            <a:avLst/>
          </a:prstGeom>
          <a:solidFill>
            <a:srgbClr val="0A9396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43400" y="45079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4114800"/>
            <a:ext cx="1737360" cy="685800"/>
          </a:xfrm>
          <a:prstGeom prst="rect">
            <a:avLst/>
          </a:prstGeom>
          <a:solidFill>
            <a:srgbClr val="0A9396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948K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45079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Handwritten Digit Recognition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64008" cy="13258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9903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737360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amounts read automatically, reducing manual processing errors and fraud.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261872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61872"/>
            <a:ext cx="64008" cy="13258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39903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Automation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1737360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codes on envelopes scanned and sorted without human intervention.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64008" cy="13258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97180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Digitization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" y="3310128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forms converted to searchable digital records at scale.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834640"/>
            <a:ext cx="64008" cy="13258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297180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Tech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3310128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visually-impaired users interact with handwritten content digitally.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MNIST: the standard benchmark: 70,000 images · 0–9 digits · 28×28 px · Introduced by LeCun et al. 1998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874521" cy="658368"/>
          </a:xfrm>
          <a:prstGeom prst="rect">
            <a:avLst/>
          </a:prstGeom>
          <a:solidFill>
            <a:srgbClr val="0A93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7325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7774" y="1425193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024128"/>
            <a:ext cx="1691641" cy="672083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1167" y="1076706"/>
            <a:ext cx="18059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18653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6090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31912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66090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7480" y="31912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 (px)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(Training Set)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2954443399"/>
              </p:ext>
            </p:extLst>
          </p:nvPr>
        </p:nvGraphicFramePr>
        <p:xfrm>
          <a:off x="4754880" y="1572768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5074919" y="4366260"/>
            <a:ext cx="3554308" cy="54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well-balanced: ~6,000 samples per digit class in the training set. No resampling required.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5347" y="1921255"/>
            <a:ext cx="3760893" cy="29260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2157E5-CA49-33E2-5FAD-624506E24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19" y="1864105"/>
            <a:ext cx="2991803" cy="304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LeNet-5 vs. Enhanced LeNet-5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Original LeNet-5 (1998)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Enhanced LeNet-5 (Ours)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Activation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Sigmoid / Tanh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ReLU (Nair &amp; Hinton 2010)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Pooling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Average Pooling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Max Pooling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Normalization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Batch Normalization (Ioffe &amp; Szegedy 2015)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Regularization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Dropout 0.5 (Srivastava et al. 2014)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Filter Sizes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 → 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32 → 64 → 128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Conv Blocks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 blocks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3 blocks (added 3×3 conv)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Optimizer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SGD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Adam + L2 decay (Kingma &amp; Ba 2015)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LR Schedule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Fixed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Cosine Annealing (Loshchilov &amp; Hutter 2017)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Augmentation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Rotation ±10° + Affine transforms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LeNet-5 Network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1188720"/>
            <a:ext cx="960120" cy="137160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28×28×1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35608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1188720"/>
            <a:ext cx="960120" cy="1371600"/>
          </a:xfrm>
          <a:prstGeom prst="rect">
            <a:avLst/>
          </a:prstGeom>
          <a:solidFill>
            <a:srgbClr val="0A9396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+ BN + ReLU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08760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28×28×32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2542032" y="1188720"/>
            <a:ext cx="960120" cy="1371600"/>
          </a:xfrm>
          <a:prstGeom prst="rect">
            <a:avLst/>
          </a:prstGeom>
          <a:solidFill>
            <a:srgbClr val="0E749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42032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14×14×32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02152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3575304" y="1188720"/>
            <a:ext cx="960120" cy="1371600"/>
          </a:xfrm>
          <a:prstGeom prst="rect">
            <a:avLst/>
          </a:prstGeom>
          <a:solidFill>
            <a:srgbClr val="0A9396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75304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+ BN + ReLU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75304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10×10×64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35424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4608576" y="1188720"/>
            <a:ext cx="960120" cy="1371600"/>
          </a:xfrm>
          <a:prstGeom prst="rect">
            <a:avLst/>
          </a:prstGeom>
          <a:solidFill>
            <a:srgbClr val="0E749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08576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5×5×64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68696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41848" y="1188720"/>
            <a:ext cx="960120" cy="1371600"/>
          </a:xfrm>
          <a:prstGeom prst="rect">
            <a:avLst/>
          </a:prstGeom>
          <a:solidFill>
            <a:srgbClr val="0A6E7C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41848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+ BN + ReLU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41848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5×5×128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01968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1188720"/>
            <a:ext cx="960120" cy="1371600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units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+ ReLU + Drop0.5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75120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3200→256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35240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Shape 31"/>
          <p:cNvSpPr/>
          <p:nvPr/>
        </p:nvSpPr>
        <p:spPr>
          <a:xfrm>
            <a:off x="7708392" y="1188720"/>
            <a:ext cx="960120" cy="137160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08392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logits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08392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880360"/>
            <a:ext cx="196596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948,938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3310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06040" y="2880360"/>
            <a:ext cx="1965960" cy="777240"/>
          </a:xfrm>
          <a:prstGeom prst="rect">
            <a:avLst/>
          </a:prstGeom>
          <a:solidFill>
            <a:srgbClr val="0A939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0604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 MB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606040" y="3310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2880360"/>
            <a:ext cx="196596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5488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54880" y="3310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03720" y="2880360"/>
            <a:ext cx="1965960" cy="777240"/>
          </a:xfrm>
          <a:prstGeom prst="rect">
            <a:avLst/>
          </a:prstGeom>
          <a:solidFill>
            <a:srgbClr val="0A939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0372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BN Layers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3310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87368"/>
          <a:ext cx="8229600" cy="74980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Optimizer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LR Schedule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Batch 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Epochs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Augmentation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Adam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1×10⁻³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Cosine Annealing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Cross-Entropy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Rotation ±10° + Affine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 for 20 Epochs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Over 20 Epochs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4632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426464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426464"/>
            <a:ext cx="54864" cy="56692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463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98.88%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83480" y="17282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exceeds 98% target in first epoch!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2084832"/>
            <a:ext cx="3931920" cy="56692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084832"/>
            <a:ext cx="54864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17920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99.67%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83480" y="23865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 reached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2743200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2743200"/>
            <a:ext cx="54864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0" name="Text 17"/>
          <p:cNvSpPr/>
          <p:nvPr/>
        </p:nvSpPr>
        <p:spPr>
          <a:xfrm>
            <a:off x="4983480" y="2779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1792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83480" y="30449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46320" y="3401568"/>
            <a:ext cx="3931920" cy="56692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3401568"/>
            <a:ext cx="54864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5" name="Text 22"/>
          <p:cNvSpPr/>
          <p:nvPr/>
        </p:nvSpPr>
        <p:spPr>
          <a:xfrm>
            <a:off x="4983480" y="34381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17920" y="34381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99.67%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983480" y="3703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gap = only 0.13%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32E850A-09FD-9C5A-2920-409731BEB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39" y="1426463"/>
            <a:ext cx="4436930" cy="36603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Error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931920" cy="32918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-969808" y="2359151"/>
            <a:ext cx="1391849" cy="199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Matrix Tells 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54864" cy="5029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527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Diagonal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7556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is strongly diagonal across all 10 classes — near-zero off-diagonal values.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130552"/>
            <a:ext cx="54864" cy="5029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1488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 Total Errors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377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10,000 test images, just 35 are misclassified (0.35% error rate).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752344"/>
            <a:ext cx="54864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770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Pairs: 5↔6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999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similar upper-curve structure — expected ambiguity even for human annotators.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374136"/>
            <a:ext cx="54864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392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Pairs: 9↔4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6210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similar upper-loop structure — a known MNIST difficulty.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995928"/>
            <a:ext cx="54864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4014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Pairs: 3↔8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2428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bilateral curvature — dataset-level ambiguity, not model weakness.</a:t>
            </a:r>
            <a:endParaRPr lang="en-US" sz="105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A4EE3E-419F-6FE0-609A-48E81E1B0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70432"/>
            <a:ext cx="393192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Scores &amp; Classification Report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70432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80060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63040"/>
          <a:ext cx="4114800" cy="34975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892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958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Macro Avg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10000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Ablation : Removing Batch Normalization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Full vs. No-BatchNorm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0060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Results Table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694323"/>
              </p:ext>
            </p:extLst>
          </p:nvPr>
        </p:nvGraphicFramePr>
        <p:xfrm>
          <a:off x="4800600" y="1399032"/>
          <a:ext cx="4114800" cy="270700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Full Model (BN)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 BN (Ablation)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Epoch 1 Test 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98.88%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98.82%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Best Test 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99.70%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99.60%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Final Test Acc (Ep.20)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99.67%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99.65%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Final Train 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99.55%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99.52%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Accuracy Drop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−0.02 pp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Misclassifications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Train–Test Gap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0.12%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0.13%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22452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BatchNorm's main advantage is early convergence speed. It drives the model past 98% in Epoch 1. The final accuracy gap is small (0.03%), but the convergence advantage is decisive.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8ABE19-D93F-B8A8-B997-1BB08B156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8" y="1399033"/>
            <a:ext cx="4050115" cy="27554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1148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5270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99.65% final test accuracy — exceeds 98% target by 1.65 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0025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accuracy achieved in the very first training epoch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505456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478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 misclassifications out of 10,000 test images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980944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9535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macro F1 = 1.00 across all 10 digit classes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456432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429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confirms BatchNorm drives early convergence speed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904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reusable PyTorch pipeline with unified training loop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1097280"/>
            <a:ext cx="27432" cy="3657600"/>
          </a:xfrm>
          <a:prstGeom prst="rect">
            <a:avLst/>
          </a:prstGeom>
          <a:solidFill>
            <a:srgbClr val="2D4A6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53619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53619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Distortions + Cutout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1755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augmentation for further error reduction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08483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08483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103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92040" y="2304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for deeper architecture scaling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63347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263347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651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9204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targets to reduce overconfidence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18211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18211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92040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independent models to reduce error rate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73075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73075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MNIST-C / EMNIST Evaluation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92040" y="3950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generalization beyond standard benchmark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480560"/>
            <a:ext cx="8229600" cy="411480"/>
          </a:xfrm>
          <a:prstGeom prst="rect">
            <a:avLst/>
          </a:prstGeom>
          <a:solidFill>
            <a:srgbClr val="0A9396">
              <a:alpha val="7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836</Words>
  <Application>Microsoft Office PowerPoint</Application>
  <PresentationFormat>On-screen Show (16:9)</PresentationFormat>
  <Paragraphs>277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LeNet-5 Presentation</dc:title>
  <dc:subject>PptxGenJS Presentation</dc:subject>
  <dc:creator>PptxGenJS</dc:creator>
  <cp:lastModifiedBy>TURLAPATI PAVITHRA SRI</cp:lastModifiedBy>
  <cp:revision>24</cp:revision>
  <dcterms:created xsi:type="dcterms:W3CDTF">2026-04-27T23:58:02Z</dcterms:created>
  <dcterms:modified xsi:type="dcterms:W3CDTF">2026-04-28T00:24:31Z</dcterms:modified>
</cp:coreProperties>
</file>